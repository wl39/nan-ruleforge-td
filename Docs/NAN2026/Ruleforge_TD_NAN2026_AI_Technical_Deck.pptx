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5e4997d7ce4675" /><Relationship Type="http://schemas.openxmlformats.org/officeDocument/2006/relationships/extended-properties" Target="/docProps/app.xml" Id="R88a78384fa444481" /><Relationship Type="http://schemas.openxmlformats.org/officeDocument/2006/relationships/officeDocument" Target="/ppt/presentation.xml" Id="R499eec7736944c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ae73868da04ba2"/>
  </p:sldMasterIdLst>
  <p:notesMasterIdLst>
    <p:notesMasterId xmlns:r="http://schemas.openxmlformats.org/officeDocument/2006/relationships" r:id="R8848b35abfd84542"/>
  </p:notesMasterIdLst>
  <p:sldIdLst>
    <p:sldId xmlns:r="http://schemas.openxmlformats.org/officeDocument/2006/relationships" id="256" r:id="R2d4604350a7e4496"/>
    <p:sldId xmlns:r="http://schemas.openxmlformats.org/officeDocument/2006/relationships" id="257" r:id="Rf287ac5c67bb4f8b"/>
    <p:sldId xmlns:r="http://schemas.openxmlformats.org/officeDocument/2006/relationships" id="258" r:id="R4c52cae7ddbd4ee3"/>
    <p:sldId xmlns:r="http://schemas.openxmlformats.org/officeDocument/2006/relationships" id="259" r:id="R128954b05711418a"/>
    <p:sldId xmlns:r="http://schemas.openxmlformats.org/officeDocument/2006/relationships" id="260" r:id="Rf6add9696d654af0"/>
    <p:sldId xmlns:r="http://schemas.openxmlformats.org/officeDocument/2006/relationships" id="261" r:id="R358e5059bef24e0c"/>
    <p:sldId xmlns:r="http://schemas.openxmlformats.org/officeDocument/2006/relationships" id="262" r:id="R82f777d3dec7456d"/>
    <p:sldId xmlns:r="http://schemas.openxmlformats.org/officeDocument/2006/relationships" id="263" r:id="R205a6f0cba8f4b35"/>
    <p:sldId xmlns:r="http://schemas.openxmlformats.org/officeDocument/2006/relationships" id="264" r:id="R4ec6531788254dbf"/>
    <p:sldId xmlns:r="http://schemas.openxmlformats.org/officeDocument/2006/relationships" id="265" r:id="Rc9e46c5751324328"/>
    <p:sldId xmlns:r="http://schemas.openxmlformats.org/officeDocument/2006/relationships" id="266" r:id="R05e24516d53d499c"/>
    <p:sldId xmlns:r="http://schemas.openxmlformats.org/officeDocument/2006/relationships" id="267" r:id="R92046ccbd6ff483d"/>
    <p:sldId xmlns:r="http://schemas.openxmlformats.org/officeDocument/2006/relationships" id="268" r:id="R5b60dfeced994704"/>
    <p:sldId xmlns:r="http://schemas.openxmlformats.org/officeDocument/2006/relationships" id="269" r:id="Rf91458e5566c40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7fa5f703194b62" /><Relationship Type="http://schemas.openxmlformats.org/officeDocument/2006/relationships/slideMaster" Target="/ppt/slideMasters/slideMaster1.xml" Id="R62ae73868da04ba2" /><Relationship Type="http://schemas.openxmlformats.org/officeDocument/2006/relationships/notesMaster" Target="/ppt/notesMasters/notesMaster1.xml" Id="R8848b35abfd84542" /><Relationship Type="http://schemas.openxmlformats.org/officeDocument/2006/relationships/presProps" Target="/ppt/presProps.xml" Id="R310becac2d9d4069" /><Relationship Type="http://schemas.openxmlformats.org/officeDocument/2006/relationships/tableStyles" Target="/ppt/tableStyles.xml" Id="Rd99f0f4934784c6f" /><Relationship Type="http://schemas.openxmlformats.org/officeDocument/2006/relationships/slide" Target="/ppt/slides/slide1.xml" Id="R2d4604350a7e4496" /><Relationship Type="http://schemas.openxmlformats.org/officeDocument/2006/relationships/slide" Target="/ppt/slides/slide2.xml" Id="Rf287ac5c67bb4f8b" /><Relationship Type="http://schemas.openxmlformats.org/officeDocument/2006/relationships/slide" Target="/ppt/slides/slide3.xml" Id="R4c52cae7ddbd4ee3" /><Relationship Type="http://schemas.openxmlformats.org/officeDocument/2006/relationships/slide" Target="/ppt/slides/slide4.xml" Id="R128954b05711418a" /><Relationship Type="http://schemas.openxmlformats.org/officeDocument/2006/relationships/slide" Target="/ppt/slides/slide5.xml" Id="Rf6add9696d654af0" /><Relationship Type="http://schemas.openxmlformats.org/officeDocument/2006/relationships/slide" Target="/ppt/slides/slide6.xml" Id="R358e5059bef24e0c" /><Relationship Type="http://schemas.openxmlformats.org/officeDocument/2006/relationships/slide" Target="/ppt/slides/slide7.xml" Id="R82f777d3dec7456d" /><Relationship Type="http://schemas.openxmlformats.org/officeDocument/2006/relationships/slide" Target="/ppt/slides/slide8.xml" Id="R205a6f0cba8f4b35" /><Relationship Type="http://schemas.openxmlformats.org/officeDocument/2006/relationships/slide" Target="/ppt/slides/slide9.xml" Id="R4ec6531788254dbf" /><Relationship Type="http://schemas.openxmlformats.org/officeDocument/2006/relationships/slide" Target="/ppt/slides/slide10.xml" Id="Rc9e46c5751324328" /><Relationship Type="http://schemas.openxmlformats.org/officeDocument/2006/relationships/slide" Target="/ppt/slides/slide11.xml" Id="R05e24516d53d499c" /><Relationship Type="http://schemas.openxmlformats.org/officeDocument/2006/relationships/slide" Target="/ppt/slides/slide12.xml" Id="R92046ccbd6ff483d" /><Relationship Type="http://schemas.openxmlformats.org/officeDocument/2006/relationships/slide" Target="/ppt/slides/slide13.xml" Id="R5b60dfeced994704" /><Relationship Type="http://schemas.openxmlformats.org/officeDocument/2006/relationships/slide" Target="/ppt/slides/slide14.xml" Id="Rf91458e5566c40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5c33321eb842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008ecb95f74a08" /><Relationship Type="http://schemas.openxmlformats.org/officeDocument/2006/relationships/notesMaster" Target="/ppt/notesMasters/notesMaster1.xml" Id="R993a9dfc98fd48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30ecf635154af4" /><Relationship Type="http://schemas.openxmlformats.org/officeDocument/2006/relationships/notesMaster" Target="/ppt/notesMasters/notesMaster1.xml" Id="R2b95d92f797442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7f61d09c8c4d73" /><Relationship Type="http://schemas.openxmlformats.org/officeDocument/2006/relationships/notesMaster" Target="/ppt/notesMasters/notesMaster1.xml" Id="R7ffd40955f2f41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0ff07cc32545c5" /><Relationship Type="http://schemas.openxmlformats.org/officeDocument/2006/relationships/notesMaster" Target="/ppt/notesMasters/notesMaster1.xml" Id="R80b1f22581174a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6d28598bcf49ad" /><Relationship Type="http://schemas.openxmlformats.org/officeDocument/2006/relationships/notesMaster" Target="/ppt/notesMasters/notesMaster1.xml" Id="R30795e2072d24d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79426c602d4076" /><Relationship Type="http://schemas.openxmlformats.org/officeDocument/2006/relationships/notesMaster" Target="/ppt/notesMasters/notesMaster1.xml" Id="R10882c5e60094d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34cec9df474145" /><Relationship Type="http://schemas.openxmlformats.org/officeDocument/2006/relationships/notesMaster" Target="/ppt/notesMasters/notesMaster1.xml" Id="Rf6fa6d255c4042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72fabbf1dd42ed" /><Relationship Type="http://schemas.openxmlformats.org/officeDocument/2006/relationships/notesMaster" Target="/ppt/notesMasters/notesMaster1.xml" Id="R95deb8b828f740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6e18e17a2547fe" /><Relationship Type="http://schemas.openxmlformats.org/officeDocument/2006/relationships/notesMaster" Target="/ppt/notesMasters/notesMaster1.xml" Id="R70db8f302f9145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8ab0ffe17543b5" /><Relationship Type="http://schemas.openxmlformats.org/officeDocument/2006/relationships/notesMaster" Target="/ppt/notesMasters/notesMaster1.xml" Id="Rab48477631ec41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4e478892e74112" /><Relationship Type="http://schemas.openxmlformats.org/officeDocument/2006/relationships/notesMaster" Target="/ppt/notesMasters/notesMaster1.xml" Id="R6307a08f21e54d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bd9dc077f442af" /><Relationship Type="http://schemas.openxmlformats.org/officeDocument/2006/relationships/notesMaster" Target="/ppt/notesMasters/notesMaster1.xml" Id="Ra2d2502e52d24e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927e7089294aaa" /><Relationship Type="http://schemas.openxmlformats.org/officeDocument/2006/relationships/notesMaster" Target="/ppt/notesMasters/notesMaster1.xml" Id="Re965ae436afa49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ca83ea33654aad" /><Relationship Type="http://schemas.openxmlformats.org/officeDocument/2006/relationships/notesMaster" Target="/ppt/notesMasters/notesMaster1.xml" Id="R6771572393344f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발표의 핵심은 AI 도구 목록이 아니라, 산출물을 검증 가능한 개발 루프로 연결했다는 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Assets/WebGLTemplates/RuleforgeFullscreen/index.html</a:t>
            </a:r>
          </a:p>
          <a:p xmlns:a="http://schemas.openxmlformats.org/drawingml/2006/main">
            <a:r>
              <a:t>- .tmp/nan-keynote-20260810/screens/webgl-current.png</a:t>
            </a:r>
          </a:p>
          <a:p xmlns:a="http://schemas.openxmlformats.org/drawingml/2006/main">
            <a:r>
              <a:t>- Docs/NAN_AI_UTILIZATION_TECHNICAL_DRAFT.md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 sections 3, 5, 15</a:t>
            </a:r>
          </a:p>
          <a:p xmlns:a="http://schemas.openxmlformats.org/drawingml/2006/main">
            <a:r>
              <a:t>- Assets/Game/Data/Cards/cards.json and Assets/Game/Data/Cards/Modules/</a:t>
            </a:r>
          </a:p>
          <a:p xmlns:a="http://schemas.openxmlformats.org/drawingml/2006/main">
            <a:r>
              <a:t>- .tmp/nan-keynote-20260810/screens/tutorial-battle.png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 verification and completion-gate sections</a:t>
            </a:r>
          </a:p>
          <a:p xmlns:a="http://schemas.openxmlformats.org/drawingml/2006/main">
            <a:r>
              <a:t>- Docs/WEBGL_COMPLETION_CHECKLIST.md</a:t>
            </a:r>
          </a:p>
          <a:p xmlns:a="http://schemas.openxmlformats.org/drawingml/2006/main">
            <a:r>
              <a:t>- Tools/serve_stage01.py</a:t>
            </a:r>
          </a:p>
          <a:p xmlns:a="http://schemas.openxmlformats.org/drawingml/2006/main">
            <a:r>
              <a:t>- https://openai.com/index/introducing-codex/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- ARCHITECTURE.md</a:t>
            </a:r>
          </a:p>
          <a:p xmlns:a="http://schemas.openxmlformats.org/drawingml/2006/main">
            <a:r>
              <a:t>- Docs/WEBGL_COMPLETION_CHECKLIST.md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/Users/lim/.codex/skills/spark-test/SKILL.md</a:t>
            </a:r>
          </a:p>
          <a:p xmlns:a="http://schemas.openxmlformats.org/drawingml/2006/main">
            <a:r>
              <a:t>- /Users/lim/.codex/skills/spark-test/scripts/run_spark_test.py</a:t>
            </a:r>
          </a:p>
          <a:p xmlns:a="http://schemas.openxmlformats.org/drawingml/2006/main">
            <a:r>
              <a:t>- AGENTS.md spark-test policy</a:t>
            </a:r>
          </a:p>
          <a:p xmlns:a="http://schemas.openxmlformats.org/drawingml/2006/main">
            <a:r>
              <a:t>- https://developers.openai.com/codex/use-cases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Docs/BALANCE_CLI_README.md</a:t>
            </a:r>
          </a:p>
          <a:p xmlns:a="http://schemas.openxmlformats.org/drawingml/2006/main">
            <a:r>
              <a:t>- Docs/AI_BALANCE_PIPELINE.md</a:t>
            </a:r>
          </a:p>
          <a:p xmlns:a="http://schemas.openxmlformats.org/drawingml/2006/main">
            <a:r>
              <a:t>- Tools/Ruleforge.BalanceCli/</a:t>
            </a:r>
          </a:p>
          <a:p xmlns:a="http://schemas.openxmlformats.org/drawingml/2006/main">
            <a:r>
              <a:t>- Tests/Ruleforge.BalanceCli.Tests/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Docs/NAN_AI_UTILIZATION_TECHNICAL_DRAFT.md session audit</a:t>
            </a:r>
          </a:p>
          <a:p xmlns:a="http://schemas.openxmlformats.org/drawingml/2006/main">
            <a:r>
              <a:t>- Assets/Game/Data/Cards/</a:t>
            </a:r>
          </a:p>
          <a:p xmlns:a="http://schemas.openxmlformats.org/drawingml/2006/main">
            <a:r>
              <a:t>- Assets/Game/Tests/</a:t>
            </a:r>
          </a:p>
          <a:p xmlns:a="http://schemas.openxmlformats.org/drawingml/2006/main">
            <a:r>
              <a:t>- Tests/Ruleforge.BalanceCli.Tests/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Assets/Game/Editor/AssetImport/StageContentAuthoring.cs</a:t>
            </a:r>
          </a:p>
          <a:p xmlns:a="http://schemas.openxmlformats.org/drawingml/2006/main">
            <a:r>
              <a:t>- Assets/Game/Editor/AssetImport/StageTwoFieldMapBuilder.cs</a:t>
            </a:r>
          </a:p>
          <a:p xmlns:a="http://schemas.openxmlformats.org/drawingml/2006/main">
            <a:r>
              <a:t>- Assets/Game/Editor/AssetImport/StageThreeFieldMapBuilder.cs</a:t>
            </a:r>
          </a:p>
          <a:p xmlns:a="http://schemas.openxmlformats.org/drawingml/2006/main">
            <a:r>
              <a:t>- Assets/Game/Tests/EditMode/GameLogic/StageOpeningBalanceGameLogicTests.cs</a:t>
            </a:r>
          </a:p>
          <a:p xmlns:a="http://schemas.openxmlformats.org/drawingml/2006/main">
            <a:r>
              <a:t>- Docs/STAGE_VARIANTS_AND_ARMOR_REQUIREMENTS.md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Docs/ArtDirection/CARD_ARTWORK_PIPELINE.md</a:t>
            </a:r>
          </a:p>
          <a:p xmlns:a="http://schemas.openxmlformats.org/drawingml/2006/main">
            <a:r>
              <a:t>- Tools/process_card_artwork.py</a:t>
            </a:r>
          </a:p>
          <a:p xmlns:a="http://schemas.openxmlformats.org/drawingml/2006/main">
            <a:r>
              <a:t>- Assets/Game/Resources/RuleforgeTD/UI/Cards/Artwork/</a:t>
            </a:r>
          </a:p>
          <a:p xmlns:a="http://schemas.openxmlformats.org/drawingml/2006/main">
            <a:r>
              <a:t>- Docs/ArtDirection/RuleforgePixelCardStyleReference.png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Assets/Game/Runtime/UI/StageOneCardView.cs</a:t>
            </a:r>
          </a:p>
          <a:p xmlns:a="http://schemas.openxmlformats.org/drawingml/2006/main">
            <a:r>
              <a:t>- Assets/Game/Runtime/UI/StageOneTowerLoadoutView.cs</a:t>
            </a:r>
          </a:p>
          <a:p xmlns:a="http://schemas.openxmlformats.org/drawingml/2006/main">
            <a:r>
              <a:t>- Assets/Game/Runtime/Audio/RuleforgeAudioService.cs</a:t>
            </a:r>
          </a:p>
          <a:p xmlns:a="http://schemas.openxmlformats.org/drawingml/2006/main">
            <a:r>
              <a:t>- Assets/Game/Tests/PlayMode/RuleforgeAudioServiceTests.cs</a:t>
            </a:r>
          </a:p>
          <a:p xmlns:a="http://schemas.openxmlformats.org/drawingml/2006/main">
            <a:r>
              <a:t>- Assets/Game/Editor/AssetImport/RuleforgeMusicAudioImporter.cs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Docs/TUTORIAL_DESIGN.md</a:t>
            </a:r>
          </a:p>
          <a:p xmlns:a="http://schemas.openxmlformats.org/drawingml/2006/main">
            <a:r>
              <a:t>- Assets/Game/Runtime/Tutorial/BattleTutorialController.cs</a:t>
            </a:r>
          </a:p>
          <a:p xmlns:a="http://schemas.openxmlformats.org/drawingml/2006/main">
            <a:r>
              <a:t>- Assets/Game/Runtime/Tutorial/TutorialProgressStore.cs</a:t>
            </a:r>
          </a:p>
          <a:p xmlns:a="http://schemas.openxmlformats.org/drawingml/2006/main">
            <a:r>
              <a:t>- Assets/Game/Runtime/UI/GameGuideModal.cs</a:t>
            </a:r>
          </a:p>
          <a:p xmlns:a="http://schemas.openxmlformats.org/drawingml/2006/main">
            <a:r>
              <a:t>- Assets/Game/Resources/RuleforgeTD/TutorialKo.json</a:t>
            </a:r>
          </a:p>
          <a:p xmlns:a="http://schemas.openxmlformats.org/drawingml/2006/main">
            <a:r>
              <a:t>- https://docs.unity3d.com/2022.3/Documentation/ScriptReference/PlayerPrefs.html</a:t>
            </a:r>
          </a:p>
          <a:p xmlns:a="http://schemas.openxmlformats.org/drawingml/2006/main">
            <a:r>
              <a:t>- .tmp/nan-keynote-20260810/screens/game-guide.png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Docs/NAN_AI_UTILIZATION_TECHNICAL_DRAFT.md sections 12.1–12.4</a:t>
            </a:r>
          </a:p>
          <a:p xmlns:a="http://schemas.openxmlformats.org/drawingml/2006/main">
            <a:r>
              <a:t>- Git history on main branch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Assets/Game/Tests/EditMode/</a:t>
            </a:r>
          </a:p>
          <a:p xmlns:a="http://schemas.openxmlformats.org/drawingml/2006/main">
            <a:r>
              <a:t>- Assets/Game/Tests/PlayMode/</a:t>
            </a:r>
          </a:p>
          <a:p xmlns:a="http://schemas.openxmlformats.org/drawingml/2006/main">
            <a:r>
              <a:t>- Tests/Ruleforge.BalanceCli.Tests/</a:t>
            </a:r>
          </a:p>
          <a:p xmlns:a="http://schemas.openxmlformats.org/drawingml/2006/main">
            <a:r>
              <a:t>- Docs/WEBGL_COMPLETION_CHECKLIST.md</a:t>
            </a:r>
          </a:p>
          <a:p xmlns:a="http://schemas.openxmlformats.org/drawingml/2006/main">
            <a:r>
              <a:t>- Docs/NAN_AI_UTILIZATION_TECHNICAL_DRAFT.md verification section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Docs/NAN_AI_UTILIZATION_TECHNICAL_DRAFT.md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- https://github.com/wl39/NAN-Ruleforge-TD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c780454684e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d79ccd41d04602" /><Relationship Type="http://schemas.openxmlformats.org/officeDocument/2006/relationships/slideLayout" Target="/ppt/slideLayouts/slideLayout1.xml" Id="R1f2455c13ee34a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2455c13ee34a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220ee1c3545c9" /><Relationship Type="http://schemas.openxmlformats.org/officeDocument/2006/relationships/image" Target="/ppt/media/image.jpeg" Id="R6612d892af424ebd" /><Relationship Type="http://schemas.openxmlformats.org/officeDocument/2006/relationships/notesSlide" Target="/ppt/notesSlides/notesSlide1.xml" Id="R579b3a15f5ac4c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69543b1e244e6" /><Relationship Type="http://schemas.openxmlformats.org/officeDocument/2006/relationships/image" Target="/ppt/media/image.png" Id="R1fd2d222cf334edc" /><Relationship Type="http://schemas.openxmlformats.org/officeDocument/2006/relationships/image" Target="/ppt/media/image2.png" Id="R83d8630896364ff8" /><Relationship Type="http://schemas.openxmlformats.org/officeDocument/2006/relationships/image" Target="/ppt/media/image3.png" Id="R65e3d5d55f854ca8" /><Relationship Type="http://schemas.openxmlformats.org/officeDocument/2006/relationships/image" Target="/ppt/media/image4.png" Id="R2053135c8d0049f9" /><Relationship Type="http://schemas.openxmlformats.org/officeDocument/2006/relationships/image" Target="/ppt/media/image2.jpeg" Id="R722722e273f441d8" /><Relationship Type="http://schemas.openxmlformats.org/officeDocument/2006/relationships/notesSlide" Target="/ppt/notesSlides/notesSlide2.xml" Id="Ra5757effe8824c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83192258e46f4" /><Relationship Type="http://schemas.openxmlformats.org/officeDocument/2006/relationships/notesSlide" Target="/ppt/notesSlides/notesSlide3.xml" Id="R2a6e0a9fbcb24f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37fc842344ca4" /><Relationship Type="http://schemas.openxmlformats.org/officeDocument/2006/relationships/notesSlide" Target="/ppt/notesSlides/notesSlide4.xml" Id="R6c680797643e4a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bf56a23204e2c" /><Relationship Type="http://schemas.openxmlformats.org/officeDocument/2006/relationships/notesSlide" Target="/ppt/notesSlides/notesSlide5.xml" Id="Ree833df812ca44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c77ca56d749b2" /><Relationship Type="http://schemas.openxmlformats.org/officeDocument/2006/relationships/notesSlide" Target="/ppt/notesSlides/notesSlide6.xml" Id="R2c6c77bd2c4343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bbee531944881" /><Relationship Type="http://schemas.openxmlformats.org/officeDocument/2006/relationships/notesSlide" Target="/ppt/notesSlides/notesSlide7.xml" Id="R558debf5db974b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cafd399bd4969" /><Relationship Type="http://schemas.openxmlformats.org/officeDocument/2006/relationships/chart" Target="/ppt/slides/charts/chart1.xml" Id="R90caf77f75724513" /><Relationship Type="http://schemas.openxmlformats.org/officeDocument/2006/relationships/notesSlide" Target="/ppt/notesSlides/notesSlide8.xml" Id="Rf5b7404e018e41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c2b42832a4312" /><Relationship Type="http://schemas.openxmlformats.org/officeDocument/2006/relationships/image" Target="/ppt/media/image5.png" Id="R3e462937a0164288" /><Relationship Type="http://schemas.openxmlformats.org/officeDocument/2006/relationships/image" Target="/ppt/media/image6.png" Id="Ra3ad7887f1cd4774" /><Relationship Type="http://schemas.openxmlformats.org/officeDocument/2006/relationships/image" Target="/ppt/media/image7.png" Id="Rfd9fa8c51d6243e5" /><Relationship Type="http://schemas.openxmlformats.org/officeDocument/2006/relationships/image" Target="/ppt/media/image8.png" Id="Rcfa22d4d2602441b" /><Relationship Type="http://schemas.openxmlformats.org/officeDocument/2006/relationships/image" Target="/ppt/media/image9.png" Id="R8074cd0f00be432f" /><Relationship Type="http://schemas.openxmlformats.org/officeDocument/2006/relationships/image" Target="/ppt/media/image10.png" Id="Re085431facf24b35" /><Relationship Type="http://schemas.openxmlformats.org/officeDocument/2006/relationships/image" Target="/ppt/media/image11.png" Id="Rf29e57adb00e454f" /><Relationship Type="http://schemas.openxmlformats.org/officeDocument/2006/relationships/notesSlide" Target="/ppt/notesSlides/notesSlide9.xml" Id="Rbae032d0f00c4d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fdca3009244f4" /><Relationship Type="http://schemas.openxmlformats.org/officeDocument/2006/relationships/notesSlide" Target="/ppt/notesSlides/notesSlide10.xml" Id="R75f1070e120f41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c79d93e944465" /><Relationship Type="http://schemas.openxmlformats.org/officeDocument/2006/relationships/image" Target="/ppt/media/image3.jpeg" Id="R4ed079a1c6714f1a" /><Relationship Type="http://schemas.openxmlformats.org/officeDocument/2006/relationships/notesSlide" Target="/ppt/notesSlides/notesSlide11.xml" Id="R2ccf609c363441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68c484b66488e" /><Relationship Type="http://schemas.openxmlformats.org/officeDocument/2006/relationships/notesSlide" Target="/ppt/notesSlides/notesSlide12.xml" Id="R43ab0991727a46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5b9f96f27438a" /><Relationship Type="http://schemas.openxmlformats.org/officeDocument/2006/relationships/notesSlide" Target="/ppt/notesSlides/notesSlide13.xml" Id="Re0b387c216a445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3c3c892e34fa2" /><Relationship Type="http://schemas.openxmlformats.org/officeDocument/2006/relationships/notesSlide" Target="/ppt/notesSlides/notesSlide14.xml" Id="Rafde8205d19c4d0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총 적 수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E6B35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ED6AF"/>
              </a:solidFill>
            </c:spPr>
          </c:dPt>
          <c:cat>
            <c:strLit>
              <c:ptCount val="3"/>
              <c:pt idx="0">
                <c:v>Stage 01
혼합</c:v>
              </c:pt>
              <c:pt idx="1">
                <c:v>Stage 02
중장갑</c:v>
              </c:pt>
              <c:pt idx="2">
                <c:v>Stage 03
군집</c:v>
              </c:pt>
            </c:strLit>
          </c:cat>
          <c:val>
            <c:numLit>
              <c:formatCode>General</c:formatCode>
              <c:ptCount val="3"/>
              <c:pt idx="0">
                <c:v>398</c:v>
              </c:pt>
              <c:pt idx="1">
                <c:v>398</c:v>
              </c:pt>
              <c:pt idx="2">
                <c:v>452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12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1214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616C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AFAF8"/>
          </a:solidFill>
          <a:prstDash val="solid"/>
        </a:ln>
      </c:spPr>
    </c:plotArea>
    <c:plotVisOnly val="1"/>
  </c:chart>
  <c:spPr>
    <a:solidFill xmlns:a="http://schemas.openxmlformats.org/drawingml/2006/main">
      <a:srgbClr val="FAFAF8"/>
    </a:solidFill>
    <a:ln xmlns:a="http://schemas.openxmlformats.org/drawingml/2006/main" w="0">
      <a:solidFill>
        <a:srgbClr val="FAFAF8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2d892af424ebd"/>
          <a:srcRect xmlns:a="http://schemas.openxmlformats.org/drawingml/2006/main" l="25078" t="0" r="250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0"/>
            <a:ext cx="60769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8BD69-6AE9-494D-8C44-990206EB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150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B72FA-51CD-47E8-A1C5-77AFDB4C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NAN 2026 · AI 활용 기술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75803-AF77-4FC9-886A-A1099B69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Ruleforge TD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B1254-88EF-4B03-B652-B54A1D6E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AI를 ‘답 생성기’가 아니라</a:t>
            </a:r>
          </a:p>
          <a:p xmlns:a="http://schemas.openxmlformats.org/drawingml/2006/main">
            <a:pPr algn="l">
              <a:defRPr sz="21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검증 가능한 개발 시스템으로 사용한</a:t>
            </a:r>
          </a:p>
          <a:p xmlns:a="http://schemas.openxmlformats.org/drawingml/2006/main">
            <a:pPr algn="l">
              <a:defRPr sz="21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카드 조립형 타워 디펜스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F8675-4A02-42D8-BE00-FCEB0FD1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428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C9053-A273-4DE2-A085-0E284621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9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AGENTS.md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866FA-485E-454E-89BA-6C58F43A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53000"/>
            <a:ext cx="1619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5C993-DCD8-45F3-B556-13FD6C44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196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spark-test skill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0DE71-FA61-471D-A3F6-BC2CE784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53000"/>
            <a:ext cx="13811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0B27C-C8EF-417A-8A8B-AD5ACC2A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96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Balance 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64B95-B62A-4478-83BB-DDF71B85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2026.08.10 · 제출 전 편집본</a:t>
            </a:r>
          </a:p>
        </p:txBody>
      </p:sp>
    </p:spTree>
    <p:extLst>
      <p:ext uri="{BB962C8B-B14F-4D97-AF65-F5344CB8AC3E}">
        <p14:creationId xmlns:p14="http://schemas.microsoft.com/office/powerpoint/2010/main" val="1615323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FDEEF-1D43-4E67-BC9A-D17CC2B7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GAME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57CEE-2584-4E82-BFF6-9FF313C3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타워가 문장의 앞부분을, 카드가 전투 규칙을 완성한다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D890E-B688-4D13-9428-5AD00043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916E8-2250-45F9-BD97-DA232FF7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3DF9D-1A66-46B6-9A64-95F9AE6F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[공격할 때]  [탄환이]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318D2-FC47-4963-B064-6AB42160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1066800" cy="15811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2d222cf334edc"/>
          <a:stretch xmlns:a="http://schemas.openxmlformats.org/drawingml/2006/main"/>
        </p:blipFill>
        <p:spPr>
          <a:xfrm xmlns:a="http://schemas.openxmlformats.org/drawingml/2006/main">
            <a:off x="590550" y="2457450"/>
            <a:ext cx="914400" cy="533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5658F-0DCE-4C66-A4B1-252EC130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분열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75374-73A2-4649-91A3-CB231510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171700"/>
            <a:ext cx="1066800" cy="15811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8630896364ff8"/>
          <a:stretch xmlns:a="http://schemas.openxmlformats.org/drawingml/2006/main"/>
        </p:blipFill>
        <p:spPr>
          <a:xfrm xmlns:a="http://schemas.openxmlformats.org/drawingml/2006/main">
            <a:off x="1847850" y="2457450"/>
            <a:ext cx="914400" cy="533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DEA6F-1080-4544-9952-5831EB0E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337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화상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B3E2C-8BC6-428B-8513-004E5DB9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066800" cy="15811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3d5d55f854ca8"/>
          <a:stretch xmlns:a="http://schemas.openxmlformats.org/drawingml/2006/main"/>
        </p:blipFill>
        <p:spPr>
          <a:xfrm xmlns:a="http://schemas.openxmlformats.org/drawingml/2006/main">
            <a:off x="3105150" y="2457450"/>
            <a:ext cx="914400" cy="533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A1947-6628-4C2A-8EA3-A444FEC1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337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폭발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448CB-F336-47B5-AE3F-C9655411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71700"/>
            <a:ext cx="1066800" cy="15811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3135c8d0049f9"/>
          <a:stretch xmlns:a="http://schemas.openxmlformats.org/drawingml/2006/main"/>
        </p:blipFill>
        <p:spPr>
          <a:xfrm xmlns:a="http://schemas.openxmlformats.org/drawingml/2006/main">
            <a:off x="4362450" y="2457450"/>
            <a:ext cx="914400" cy="533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9C383-8FBD-4325-8473-76C80668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도탄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9E352-6D8B-44B6-81AA-CB740E29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같은 카드 순서라도 타워의 대상 문맥이 바뀌면</a:t>
            </a:r>
          </a:p>
          <a:p xmlns:a="http://schemas.openxmlformats.org/drawingml/2006/main">
            <a:pPr algn="l">
              <a:defRPr sz="18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탄환 분열 ↔ 적 분열처럼 결과가 달라진다.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60E4D-27F4-49E5-A0ED-B9D389D5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모든 카드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B072A-5645-4FC8-AC95-CDDF6EA7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1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PROJECTILE + ENEMY 두 해석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722e273f441d8"/>
          <a:srcRect xmlns:a="http://schemas.openxmlformats.org/drawingml/2006/main" l="12000" t="0" r="12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504950"/>
            <a:ext cx="57912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E9FA6-1E5D-4DA3-BD55-BBD618B8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88645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Stage 01 · 실제 WebGL 전투 화면</a:t>
            </a:r>
          </a:p>
        </p:txBody>
      </p:sp>
    </p:spTree>
    <p:extLst>
      <p:ext uri="{BB962C8B-B14F-4D97-AF65-F5344CB8AC3E}">
        <p14:creationId xmlns:p14="http://schemas.microsoft.com/office/powerpoint/2010/main" val="129180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F3F444-415F-4778-86A7-762C6EB7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4B17E-465D-4FC6-9DCC-BBA70E08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하나의 프롬프트가 아니라, 반복 가능한 개발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78472-EF5A-40C0-9D8F-29FE973A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6D231-1DE1-48DC-AF3B-428B34A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84C36-9907-4884-B17F-D3AB4840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619250" cy="2095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F1E85-4739-4992-B53F-32EB4D02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5FB6A-2652-4008-8EF9-0315FA7C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사람의 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4E2ED-185C-4CE9-A64B-45307C89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352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게임 감각·우선순위</a:t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최종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45C4D-21C9-4F60-8ADA-4414B770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575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6FF2A-DF66-428D-BEC8-1003664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003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5C78C-717D-4A34-A33F-20175548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1619250" cy="2095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FD49B-9107-497D-9A3E-327A24CE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924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A8896-2435-41D5-B418-574F7E47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2098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Codex 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21659-798B-4D6D-84AD-6D3EF6F0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28900"/>
            <a:ext cx="1352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설계·코드·데이터</a:t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문서화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B7C10-9321-4E4D-AB25-28DB8FC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575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7369A-F972-4206-80D8-539640E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8003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6F714-D1CB-471C-98CB-EC9F3D00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1619250" cy="2095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84326-C725-4151-B599-06F4367F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F7FD2-F2C1-4550-8560-AB12572B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AGENTS 계약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66F2A-8A71-4EF5-9F12-3577CD9C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1352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핵심 원칙·금지선</a:t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완료 조건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BD839-D3AC-40A2-A3C9-0B1A68FF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575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9DBAD-D7F2-4C02-AE96-76A57019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03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E6318-C830-4CD6-A6CB-9FF3D19C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809750"/>
            <a:ext cx="1619250" cy="2095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AA4CB-3318-4D69-BEA2-F9C4DACD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24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3B5E60-BAAA-477C-B29C-1F77868A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098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자동 검증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AE8C23-D705-48AF-A0A6-D61AE8B9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28900"/>
            <a:ext cx="1352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Unity·CLI·replay</a:t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고정 seed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18E4D-B08B-4769-8685-3FF28C0C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A1C44F-C42E-4238-B01B-95ADB508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8003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6B609C-4E2F-4E8B-B062-DDF8074F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1619250" cy="2095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CB7269-1970-4EE8-81E7-CD5FF0F9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1961AD-CBEC-447F-9DD8-668C50D2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WebGL 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1FDFF-E51E-417F-8862-571856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1352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4씬 빌드·8767</a:t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브라우저 입력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586BD3-2614-46EE-B56D-8FE7A903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8575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7F7BB8-ACB8-4273-A36E-177AF635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003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A60A26-15B1-418A-B080-5B968071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809750"/>
            <a:ext cx="1619250" cy="2095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48B4F3-357F-4F91-915A-2C3F547F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924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A6F954-CF9F-4F48-9E1F-DC119EB0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2098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증거 회수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1D1F4B-B931-4EE1-99AB-8547C435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28900"/>
            <a:ext cx="1352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통과 수·로그·hash</a:t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경고와 한계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2C6244-4D40-422E-A51F-0A01B207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13919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9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38AE74-9873-4C17-BE3C-ACBB0BAB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실패 → 규칙 → 다음 세션의 기본값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490CB0-D5CB-497C-AF06-BC5ABD03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9105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7E0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D7E0E8"/>
                </a:solidFill>
                <a:latin typeface="Apple SD Gothic Neo"/>
                <a:ea typeface="Apple SD Gothic Neo"/>
                <a:cs typeface="Apple SD Gothic Neo"/>
              </a:rPr>
              <a:t>‘테스트만 통과하고 WebGL을 새로 빌드하지 않음’이 실제로 발생한 뒤,</a:t>
            </a:r>
          </a:p>
          <a:p xmlns:a="http://schemas.openxmlformats.org/drawingml/2006/main">
            <a:pPr algn="l">
              <a:defRPr sz="1425" b="0" i="0">
                <a:solidFill>
                  <a:srgbClr val="D7E0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D7E0E8"/>
                </a:solidFill>
                <a:latin typeface="Apple SD Gothic Neo"/>
                <a:ea typeface="Apple SD Gothic Neo"/>
                <a:cs typeface="Apple SD Gothic Neo"/>
              </a:rPr>
              <a:t>전체 빌드·8767 서빙·브라우저 확인을 완료 조건으로 AGENTS.md에 고정했다.</a:t>
            </a:r>
          </a:p>
        </p:txBody>
      </p:sp>
    </p:spTree>
    <p:extLst>
      <p:ext uri="{BB962C8B-B14F-4D97-AF65-F5344CB8AC3E}">
        <p14:creationId xmlns:p14="http://schemas.microsoft.com/office/powerpoint/2010/main" val="843476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10BEA1-7D90-448F-A09E-08CBBBC4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LIVING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F2A02-0A73-49F9-88EF-48ABBE09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AGENTS.md는 ‘살아 있는 프로젝트 계약’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A82F0-8319-47C6-84D8-BA87E7EA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E2556-E0D2-40B0-B677-28CEA48F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74C43-028F-49FF-9773-3D96BD38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5626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4181A-3B91-4123-AD44-F721D449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7A489-AE2C-4FA4-8ED3-6E920B7C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제품 원칙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CFD34-C99E-4AFA-BE1E-F2D6607D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193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모든 카드는 두 해석</a:t>
            </a:r>
          </a:p>
          <a:p xmlns:a="http://schemas.openxmlformats.org/drawingml/2006/main">
            <a:pPr algn="l">
              <a:def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카드 순서는 결과를 바꿈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C1A3C-3B4D-453A-BF41-BDCFE696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55626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8903A-A51F-4570-80FF-127B1395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6B61"/>
          </a:solidFill>
          <a:ln xmlns:a="http://schemas.openxmlformats.org/drawingml/2006/main" w="0">
            <a:solidFill>
              <a:srgbClr val="DD6B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35472-490A-48CD-95F2-385E0A8F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안전 원칙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812BF-BD3A-433B-A4F2-2DCB5D62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193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사기 조합은 허용</a:t>
            </a:r>
          </a:p>
          <a:p xmlns:a="http://schemas.openxmlformats.org/drawingml/2006/main">
            <a:pPr algn="l">
              <a:def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실제 무한 루프는 금지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89334-2BD0-4F30-A3CA-7408C622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55626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97A60-A18E-4AD2-A5B0-576698C4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43325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6AF"/>
          </a:solidFill>
          <a:ln xmlns:a="http://schemas.openxmlformats.org/drawingml/2006/main" w="0">
            <a:solidFill>
              <a:srgbClr val="6ED6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0B45D-7DF8-45B3-9E91-D0459CEC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구조 원칙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B1FD8-D36C-4FA1-8991-DB466051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719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GameLogic이 판정 소유</a:t>
            </a:r>
          </a:p>
          <a:p xmlns:a="http://schemas.openxmlformats.org/drawingml/2006/main">
            <a:pPr algn="l">
              <a:def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Unity는 snapshot 표현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23913-8C02-4FEF-B1A4-3F8E9F4B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55626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A7BB8-6A7B-476C-AAA6-E3B0795D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43325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35A"/>
          </a:solidFill>
          <a:ln xmlns:a="http://schemas.openxmlformats.org/drawingml/2006/main" w="0">
            <a:solidFill>
              <a:srgbClr val="E6B3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FD9E7-455D-4347-90E2-A585B69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909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완료 원칙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E6551-E3F1-4902-A833-C5EA412C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719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테스트 → 전체 WebGL</a:t>
            </a:r>
          </a:p>
          <a:p xmlns:a="http://schemas.openxmlformats.org/drawingml/2006/main">
            <a:pPr algn="l">
              <a:def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8767 → 브라우저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03C6A-C231-43A8-93BA-80165745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초기 프롬프트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86A7B-E3EC-49CD-849E-935D05FB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626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4C987-1664-499F-9BCC-20C24C70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0550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D7C54-D4B8-439B-A406-88B37725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8578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실패 기록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996B68-3C8A-4221-91B3-8825A568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E7B602-DEF8-451D-9609-3DA3AD79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90550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D05EC-178C-4F44-A600-C0375FF7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578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검증 규칙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52587-FD54-474C-A3E2-6033B414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626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2F65A8-38B1-45F9-BAF9-3606D138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90550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6F3807-EE1D-41CD-9532-9D6D1963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57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다음 세션의 공통 기본값</a:t>
            </a:r>
          </a:p>
        </p:txBody>
      </p:sp>
    </p:spTree>
    <p:extLst>
      <p:ext uri="{BB962C8B-B14F-4D97-AF65-F5344CB8AC3E}">
        <p14:creationId xmlns:p14="http://schemas.microsoft.com/office/powerpoint/2010/main" val="1325452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5E655-9A68-4C3A-B9E5-3149C5BC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CUSTOM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95552-CABF-4CAA-98AB-C1E3CAF0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직접 만든 spark-test skill로 구현과 검증을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316E9-9614-400F-9B3E-5D62C364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65CC9-4D0E-4618-A6AC-E10CE91D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05C1A-7B4F-4171-8B9F-1941FC24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857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52BBC-2BDE-4517-A865-4462A901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B2748-AEE5-4131-8AE8-F1B98184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메인 Codex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9DA23-047B-4FEC-91EC-5D23FAEA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2590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작업 범위와</a:t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성공 조건 정의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허용 변경 범위 명시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E3E36-AC03-4AED-869A-7E5EE914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765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267B5-B066-4003-A2C8-E104133C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19425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C2FE7-137D-437E-BC6D-079364C7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09750"/>
            <a:ext cx="3810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D7650-631A-409B-84D5-A3259ADB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BE794-54B7-48BC-AC99-79F5B25E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098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spark-test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89023-6E3E-4716-87C6-9D3C6048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28900"/>
            <a:ext cx="3543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SKILL.md + run_spark_test.py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Spark 우선, 사용량 한도일 때만</a:t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Luna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6379E-8D82-48D5-975A-E38CD10B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765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F6B87-528B-4C40-84F7-F5D30A2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19425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30493-C00E-4AF3-9601-03CA7D6F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31242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960B9-36A2-4F3E-8FDE-C23D67C2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24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D2CEC-4CAB-4F5B-9EF7-E6FFB56A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9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증거 보고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6115A-E9E0-4F70-9128-A558A435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실행 명령 · 종료 코드</a:t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통과 수 · 빌드 경로</a:t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HTTP · 경고 · 변경 파일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EAF76-55F2-4329-B048-67392DCE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113919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9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84FA1-28A9-496F-9D66-5A4E6BD8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핵심 정책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ABEE4-8FE7-4567-B88F-65592541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일반 테스트 실패를 다른 모델로 덮지 않으며, 실제 수행 모델과 환경 차단을 최종 보고에 남긴다.</a:t>
            </a:r>
          </a:p>
        </p:txBody>
      </p:sp>
    </p:spTree>
    <p:extLst>
      <p:ext uri="{BB962C8B-B14F-4D97-AF65-F5344CB8AC3E}">
        <p14:creationId xmlns:p14="http://schemas.microsoft.com/office/powerpoint/2010/main" val="742611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9E09CF-B6D4-4694-9D07-3414753B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BALANCE CLI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64D7D-486F-4D85-9582-BAD4229E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AI가 수치를 ‘맞히는’ 대신, 실제 게임을 재현하게 만들었다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093BC-4CF9-4B18-87A6-E94ACC60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40F71-5B3C-46B8-AB94-59E1D5F3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14973-BC20-44E8-A79B-445905AA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381125" cy="152400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BBB8D-EC9F-4D4F-A282-E1D6A4F1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1E1E6-00A6-4F2A-8F46-506DA06C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콘텐츠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E88CC-32C8-4991-B761-AE935A13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JSON + overlay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39DFE-1A47-43CA-A086-B351077E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76500"/>
            <a:ext cx="104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9A613-F6F2-4954-AC9D-542DC1D1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4193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DBA5B-7EEA-432E-A3FF-D6BFE6B2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714500"/>
            <a:ext cx="1381125" cy="152400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A645B-927C-46EF-BFE1-BD35CFB6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828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B5DED-B5C6-407C-B01E-CC9BD7DB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114550"/>
            <a:ext cx="111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컴파일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690CB-8B8B-48BE-B3CD-8912FC83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5336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Content</a:t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Compiler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9F593-3DCC-49C4-B469-48F83DC7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104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B94B4-6561-4788-94A7-05542FE7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193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9DCE9-4D17-42CC-AC33-104A1B27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14500"/>
            <a:ext cx="1381125" cy="152400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E7AE2-5AAF-43F8-BE45-A1F78091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28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E80DC-2246-463F-B64C-2455281B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111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시뮬레이션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8AA8B-C263-472A-8953-E9FE5234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336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Game</a:t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Simulation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D8643-AD2D-48AF-96FE-52BEEBE7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76500"/>
            <a:ext cx="104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8AAF1-5DE6-49DB-A31C-5F4EEB55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4193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6E7A0-C44F-41DF-BE3D-75C21457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14500"/>
            <a:ext cx="1381125" cy="152400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FD8538-5CEC-4566-A45A-0C737FCB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28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385AA2-36BA-4972-8B16-BB9300CC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14550"/>
            <a:ext cx="111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합법 행동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6E0708-9736-4D61-A329-E9066E1F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336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stable</a:t>
            </a:r>
          </a:p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actionId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C4089C-B623-4118-BF16-EA8F0642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104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FEB516-A0D9-4BA8-87BD-032A3086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8C71C-6207-43BE-89E8-F6DEA7B8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14500"/>
            <a:ext cx="1381125" cy="152400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A9ED2F-480B-4476-BE8A-7C93C3A7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28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88B351-20D2-4FC7-A85D-6031D75F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14550"/>
            <a:ext cx="111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정책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B39BC0-8DE8-4A0D-BAF5-59C3151A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C# / 탐색 LLM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033E04-5BBE-4131-9FFA-9FD18661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476500"/>
            <a:ext cx="104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35EF6A-71FC-493B-83B6-0968B1D5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193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173A01-0073-481C-A355-CDD9464F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14500"/>
            <a:ext cx="1381125" cy="152400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CF2827-C5CD-4D7C-930E-B753688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828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867FFB-2D81-47B2-93E2-C7007368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114550"/>
            <a:ext cx="111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명령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5989B4-0C6A-4165-958A-B8244AAC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336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CLI가 생성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9FBC50-2F33-4946-9638-BACA3B37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76500"/>
            <a:ext cx="104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72168F-4A10-4E38-97CF-FD685F42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193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2A5F94-88B9-4633-8481-FCA5DB24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0"/>
            <a:ext cx="1381125" cy="152400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7984FF-3FFE-47D9-AD58-32D725D0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828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B6520F-E6F4-4EA6-A6B0-03F75D12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111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증거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13431D-FCB9-4FD7-B54E-9248B4C2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336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replay + hash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8ED949-7E55-4C34-A9AB-28E0F333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5429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9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95DD8A-5517-4638-9539-7C87E4DA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LLM의 허용 출력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6C9F6B-973E-4170-8BB6-258CFF0F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"selectedActionId": "a-101",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"reasonCode": "MIDWAVE_DAMAGE_BREAKPOINT"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9D8EF9-D1BD-4090-8ED5-FE72B1CD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95700"/>
            <a:ext cx="5657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23BA79-AAC5-48B4-90C4-7DBA1C57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권위 경계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09DE83-098E-4B1D-A4E7-6A1B02F1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• 정책은 damage·가격·슬롯을 다시 계산하지 않음</a:t>
            </a:r>
          </a:p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• game seed와 policy seed를 분리</a:t>
            </a:r>
          </a:p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• 기록된 command/Step만으로 replay</a:t>
            </a:r>
          </a:p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• state hash가 같아야 MATCH</a:t>
            </a:r>
          </a:p>
        </p:txBody>
      </p:sp>
    </p:spTree>
    <p:extLst>
      <p:ext uri="{BB962C8B-B14F-4D97-AF65-F5344CB8AC3E}">
        <p14:creationId xmlns:p14="http://schemas.microsoft.com/office/powerpoint/2010/main" val="579513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D7D651-B9A2-46AA-869A-FB2A9D43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PROJECT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4F370-08E1-4A9F-B231-E97B93F5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AI 활용은 ‘산출물 수’보다 ‘검증 가능한 구조’로 측정했다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C60E1-C044-47EA-A118-1A85DB0E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39805-E7E6-4FD8-92B8-6165C20E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DA99B-9198-4B41-ACFE-87AB0A3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세션 기록·콘텐츠·테스트를 저장소와 교차 감사한 최신 수치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1BE72-0615-4526-9455-7406E1D8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476625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B65B9-FE83-43FE-B9E9-3FEC9AC6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B7CAC-1E5B-47C5-9E6E-C0885F5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095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ADC4E-0C7A-43BD-B7A1-FCC005B7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카드 · 전부 두 대상 해석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2B21D-2A3A-4DA2-90E9-DB0BE4C7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95500"/>
            <a:ext cx="3476625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04AA9-2039-47AE-BC7D-10AA2CA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6AF"/>
          </a:solidFill>
          <a:ln xmlns:a="http://schemas.openxmlformats.org/drawingml/2006/main" w="0">
            <a:solidFill>
              <a:srgbClr val="6ED6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B43EE-DE06-4EDE-BCE5-D3A89680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71750"/>
            <a:ext cx="3095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65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798F0-AD06-41AE-8205-9D64C483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719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사용자 원점 세션 · 54개 직접 기여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4D0B3-F85F-487C-B185-C52E76F6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4861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8994D-5F96-442E-BC0D-01CA049E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35A"/>
          </a:solidFill>
          <a:ln xmlns:a="http://schemas.openxmlformats.org/drawingml/2006/main" w="0">
            <a:solidFill>
              <a:srgbClr val="E6B3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62C17-334E-4671-ABA1-5AE94EC4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3105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9CB37-7D85-442A-9EE3-9C61781E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719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서로 다른 역할의 캠페인 스테이지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3F5DD-2A8E-4C19-9679-F12EBC59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9590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302A9-B0C4-4467-B8A4-13EB6202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625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EditMode 147/147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6FE4F-9A52-4E32-B3B0-9DEBC0A1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9590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0141C-6D00-41CD-9882-D550C344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625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PlayMode 98/98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CC96C-C6A4-4E65-B90A-7409D265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95900"/>
            <a:ext cx="2190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E86AF-05B0-4AA1-9DC2-49F42FF2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62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Balance CLI 29/29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46BF3-C3E4-4DAE-8DBE-5C381082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95900"/>
            <a:ext cx="2286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04668-C362-421D-803C-8C65180B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62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Browser 0 warn/error</a:t>
            </a:r>
          </a:p>
        </p:txBody>
      </p:sp>
    </p:spTree>
    <p:extLst>
      <p:ext uri="{BB962C8B-B14F-4D97-AF65-F5344CB8AC3E}">
        <p14:creationId xmlns:p14="http://schemas.microsoft.com/office/powerpoint/2010/main" val="10935896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88058-4A5B-418C-8E8A-9251F01C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BALANCE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6CF7D-2509-41B5-9B06-0C96E7AA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같은 적 수가 아니라, 스테이지별 전투 역할을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ACDF8-75DC-418A-9598-8E3CC6F8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5C157-F459-4330-B600-6165199E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600200"/>
          <a:ext xmlns:a="http://schemas.openxmlformats.org/drawingml/2006/main" cx="6572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caf77f7572451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76761-3962-4F7F-A640-D4FC773E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43624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B3F01-EE40-4008-AF7D-727B0DDD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2880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FC02D-6B9E-4EAC-9F4D-E70EF62A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기본 혼합형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61F47-F721-4006-A7D6-88C1A1E5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398마리</a:t>
            </a:r>
          </a:p>
          <a:p xmlns:a="http://schemas.openxmlformats.org/drawingml/2006/main">
            <a:pPr algn="l">
              <a:def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규칙 조합 입문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E2398-FDEE-4080-96D4-518940EA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43624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EF9E4-538F-4C34-9923-5C24D53B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5755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6B3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E6B35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EEE71-B3C6-4F2F-8612-DF51BC55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중장갑형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980E9-6107-485C-AA4E-616770AF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004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Knight 69 · Golem 17</a:t>
            </a:r>
          </a:p>
          <a:p xmlns:a="http://schemas.openxmlformats.org/drawingml/2006/main">
            <a:pPr algn="l">
              <a:def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방어 관통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2F918-57C3-4C8D-ADC5-A0ECD25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43624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829BE-D2A9-47B0-B215-C112DCC1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8630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6ED6A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6ED6A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BBBF4-97B4-449B-B719-63FE12E3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48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군집형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3515C-1CB4-44A5-B9FF-F9CF5C0B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292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452마리 · +13.6%</a:t>
            </a:r>
          </a:p>
          <a:p xmlns:a="http://schemas.openxmlformats.org/drawingml/2006/main">
            <a:pPr algn="l">
              <a:def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도탄·감전 선택</a:t>
            </a:r>
          </a:p>
        </p:txBody>
      </p:sp>
    </p:spTree>
    <p:extLst>
      <p:ext uri="{BB962C8B-B14F-4D97-AF65-F5344CB8AC3E}">
        <p14:creationId xmlns:p14="http://schemas.microsoft.com/office/powerpoint/2010/main" val="8996484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B1E328-5081-4C33-836B-C7ABC14F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VISUAL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3FF3B-AE66-4659-BF75-5C7EB2FA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ImageGen 후보를 그대로 쓰지 않고, 결정적 후처리와 QA를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172F5-9D00-4599-A38E-97376FBF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3F695-1E82-4DCA-A140-36D8C04F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B71D8-CD84-41C5-A0F1-D8343160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95262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7DD52-1286-4206-8D85-F45FE74A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30A86-7B5F-4F45-80A3-CAACB666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스타일 계약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4D477-D259-4593-86D5-DB9323D3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픽셀 밀도·명도·실루엣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B3ED9-9E68-4B2E-ADF3-C02050C2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669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E7D1E-FD97-4673-A4F5-60202EDA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4B8C1-645F-4107-BB43-03C01597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71625"/>
            <a:ext cx="195262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63494-C350-4762-B8E6-CDFC7EC4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859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3CA34-0E13-4F42-8CFB-8D0BE841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ImageGen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C6838-240D-4949-804A-19EF74FD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90775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카드/지도 후보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BE494-9629-4B63-96D3-E9930DF6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669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C16D7-E2B7-4B53-AD37-4929BF50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0980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F0EE0-0F9F-40EB-91C7-AED949EA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71625"/>
            <a:ext cx="195262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75226-8F8C-4775-BBB2-24EC56C3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859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FBF5F-AE80-497E-8672-56D46E59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716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후처리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13F30-E1DC-4E34-A21B-62388442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90775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배경 제거·192×112 정규화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8B30A-D6F1-42FC-8412-67B490E9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2669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4C369-E831-468D-BD36-D1692971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980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0E37D-C453-4347-96CA-59ED7A58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71625"/>
            <a:ext cx="195262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92C22-AAF1-4ADD-A092-D11F8A39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859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89D84-3A91-4D58-A616-6694EC4A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716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자동 QA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1B8AF-0EB7-4153-A234-E04F2170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90775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58/58 누락·alpha·필터 검사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DBFFE-0F00-46A1-8352-5657B402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669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DFEF23-1037-432E-9D5E-A92530D2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0980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682073-C22F-4632-9FD2-76A58FD6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71625"/>
            <a:ext cx="195262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584F1F-EEF8-4652-AAD0-CD6FBF4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859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0F25F9-84ED-4DDF-A8D4-87C3C201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716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WebGL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30A5A0-30E2-4C80-B7ED-C3FDE416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90775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실제 UI에서 육안 검수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62937a0164288"/>
          <a:stretch xmlns:a="http://schemas.openxmlformats.org/drawingml/2006/main"/>
        </p:blipFill>
        <p:spPr>
          <a:xfrm xmlns:a="http://schemas.openxmlformats.org/drawingml/2006/main">
            <a:off x="476250" y="3737769"/>
            <a:ext cx="1390650" cy="811213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d7887f1cd4774"/>
          <a:stretch xmlns:a="http://schemas.openxmlformats.org/drawingml/2006/main"/>
        </p:blipFill>
        <p:spPr>
          <a:xfrm xmlns:a="http://schemas.openxmlformats.org/drawingml/2006/main">
            <a:off x="2095500" y="3737769"/>
            <a:ext cx="1390650" cy="811213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fa8c51d6243e5"/>
          <a:stretch xmlns:a="http://schemas.openxmlformats.org/drawingml/2006/main"/>
        </p:blipFill>
        <p:spPr>
          <a:xfrm xmlns:a="http://schemas.openxmlformats.org/drawingml/2006/main">
            <a:off x="3714750" y="3737769"/>
            <a:ext cx="1390650" cy="811213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22d4d2602441b"/>
          <a:stretch xmlns:a="http://schemas.openxmlformats.org/drawingml/2006/main"/>
        </p:blipFill>
        <p:spPr>
          <a:xfrm xmlns:a="http://schemas.openxmlformats.org/drawingml/2006/main">
            <a:off x="5334000" y="3737769"/>
            <a:ext cx="1390650" cy="811213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4cd0f00be432f"/>
          <a:stretch xmlns:a="http://schemas.openxmlformats.org/drawingml/2006/main"/>
        </p:blipFill>
        <p:spPr>
          <a:xfrm xmlns:a="http://schemas.openxmlformats.org/drawingml/2006/main">
            <a:off x="6953250" y="3737769"/>
            <a:ext cx="1390650" cy="811213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5431facf24b35"/>
          <a:stretch xmlns:a="http://schemas.openxmlformats.org/drawingml/2006/main"/>
        </p:blipFill>
        <p:spPr>
          <a:xfrm xmlns:a="http://schemas.openxmlformats.org/drawingml/2006/main">
            <a:off x="8572500" y="3737769"/>
            <a:ext cx="1390650" cy="811213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e57adb00e454f"/>
          <a:stretch xmlns:a="http://schemas.openxmlformats.org/drawingml/2006/main"/>
        </p:blipFill>
        <p:spPr>
          <a:xfrm xmlns:a="http://schemas.openxmlformats.org/drawingml/2006/main">
            <a:off x="10191750" y="3737769"/>
            <a:ext cx="1390650" cy="811213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DB0767-B747-4B06-B900-5286EC70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9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C5383A-7B72-4787-989D-9CE99C38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사람의 역할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8BEB29-5ADB-422D-AFE4-4DE8CF03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19725"/>
            <a:ext cx="919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레퍼런스·톤·채택 후보 결정 · 외부 에셋 라이선스 확인 · 최종 인게임 승인</a:t>
            </a:r>
          </a:p>
        </p:txBody>
      </p:sp>
    </p:spTree>
    <p:extLst>
      <p:ext uri="{BB962C8B-B14F-4D97-AF65-F5344CB8AC3E}">
        <p14:creationId xmlns:p14="http://schemas.microsoft.com/office/powerpoint/2010/main" val="16121295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A17B2-4028-497A-9622-A9B6E1AE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UX + AUDIO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42EA7-D043-4EFE-94E5-345B680E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최근 반복: 읽기 쉬움과 청각 피로를 실제 피드백으로 보정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CA936-EAE4-4FD6-9BF5-85CF0593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40A25-FDDE-4E07-853F-7494F179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9CDDE-5A55-48E4-BA7B-A9DFCD9C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5626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B3E42-55E5-41A4-9346-277CCD5B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860F7-D977-44FD-8C17-6D36EE78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보상 카드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E0B38-B60B-4999-B825-2D8D02D0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00250"/>
            <a:ext cx="295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글자 확대 · 안전 여백</a:t>
            </a:r>
          </a:p>
          <a:p xmlns:a="http://schemas.openxmlformats.org/drawingml/2006/main">
            <a:pPr algn="l">
              <a:def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설명과 중앙 구분선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9B96B-C1CA-485C-B058-544A196E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55626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094A0-AEA1-4999-B0D8-9D6225B0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6AF"/>
          </a:solidFill>
          <a:ln xmlns:a="http://schemas.openxmlformats.org/drawingml/2006/main" w="0">
            <a:solidFill>
              <a:srgbClr val="6ED6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82809-4288-4A1D-80DC-7EB45258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보유 카드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B35A6-7459-41A7-971E-8B5329EE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00250"/>
            <a:ext cx="295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모든 카드 호버 확대</a:t>
            </a:r>
          </a:p>
          <a:p xmlns:a="http://schemas.openxmlformats.org/drawingml/2006/main">
            <a:pPr algn="l">
              <a:def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장착 카드는 사용 타워 미니맵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D1B2E-066E-4F25-ADEB-63C227FD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5626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17658-230E-44E4-B645-052DA162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6B61"/>
          </a:solidFill>
          <a:ln xmlns:a="http://schemas.openxmlformats.org/drawingml/2006/main" w="0">
            <a:solidFill>
              <a:srgbClr val="DD6B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E931B-3087-41E9-A9F0-A09BA706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피격 효과음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9CFFA-F7B9-4C94-A0FF-44838323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38600"/>
            <a:ext cx="295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프레임당 4회 제한 +</a:t>
            </a:r>
          </a:p>
          <a:p xmlns:a="http://schemas.openxmlformats.org/drawingml/2006/main">
            <a:pPr algn="l">
              <a:def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프레임 간 최근 밀도 감쇠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07299-A12F-436E-A214-8CB005BD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55626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5D25B-C4E2-4102-8BF3-8D9632CB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8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35A"/>
          </a:solidFill>
          <a:ln xmlns:a="http://schemas.openxmlformats.org/drawingml/2006/main" w="0">
            <a:solidFill>
              <a:srgbClr val="E6B3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0E10A-5723-40AF-8CE3-F7558DD6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338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상태 기반 BGM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08C9D-F283-4306-99BE-A26C97A8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038600"/>
            <a:ext cx="295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103.36 BPM 분석</a:t>
            </a:r>
          </a:p>
          <a:p xmlns:a="http://schemas.openxmlformats.org/drawingml/2006/main">
            <a:pPr algn="l">
              <a:def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11.916s intro · 27.303s loop</a:t>
            </a:r>
          </a:p>
          <a:p xmlns:a="http://schemas.openxmlformats.org/drawingml/2006/main">
            <a:pPr algn="l">
              <a:def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1.35s crossfade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2C2B3-CFDF-4BF3-B860-723BCD44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AI의 역할: 분석·구현·회귀 테스트   |   사람의 역할: 피로도·가독성·음악 전환 체감 승인</a:t>
            </a:r>
          </a:p>
        </p:txBody>
      </p:sp>
    </p:spTree>
    <p:extLst>
      <p:ext uri="{BB962C8B-B14F-4D97-AF65-F5344CB8AC3E}">
        <p14:creationId xmlns:p14="http://schemas.microsoft.com/office/powerpoint/2010/main" val="4454043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7B8067-917D-481E-87CC-45699807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AA2BE-EE99-4C23-87EC-8D46FD9C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튜토리얼도 시뮬레이션을 바꾸지 않는 ‘표현 계층’으로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D2552-DC0C-4A39-9387-18F8CE73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B84F7-D956-43F2-B4AE-14A10AB6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9C8BE-ABFC-4D83-AE59-5EB9F12E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619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AF62B-125D-49A7-AF73-D1801BB9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FC23A-02A6-4DE4-9A4F-AD442287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58D41-D7B9-4856-8233-37FF3652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핵심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80040-0246-4876-B091-D6B3FFBE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638300"/>
            <a:ext cx="1619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9BC80-C6A1-4297-AD9D-C44BA65A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097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6AF"/>
          </a:solidFill>
          <a:ln xmlns:a="http://schemas.openxmlformats.org/drawingml/2006/main" w="0">
            <a:solidFill>
              <a:srgbClr val="6ED6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0CDE3-AAE8-488A-91D7-158702A7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3835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2ED51-1157-4CAE-BDD6-DDADF108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상황 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608BD-333B-4B3F-9431-7FA229DB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가르치는 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DA2C6-BC2D-4E67-8F7B-482CFDE2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웨이브 예고 · 타워 건설 · 카드 드래그</a:t>
            </a:r>
          </a:p>
          <a:p xmlns:a="http://schemas.openxmlformats.org/drawingml/2006/main">
            <a:pPr algn="l">
              <a:def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탄환↔적 대상 전환 · 왼쪽→오른쪽 실행</a:t>
            </a:r>
          </a:p>
          <a:p xmlns:a="http://schemas.openxmlformats.org/drawingml/2006/main">
            <a:pPr algn="l">
              <a:def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적 조사 · 타워 강화 · 실제 3장 보상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8806F-1C19-44B3-9E9C-FD3632C1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4762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9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4C320-7E71-46D5-B978-D4DC2838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진행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88C41-FC75-44E6-9F66-BA2A1020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435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PlayerPrefs → WebGL IndexedDB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AAD28-D133-40C4-A4A1-560AD4DC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61722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920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079a1c6714f1a"/>
          <a:stretch xmlns:a="http://schemas.openxmlformats.org/drawingml/2006/main"/>
        </p:blipFill>
        <p:spPr>
          <a:xfrm xmlns:a="http://schemas.openxmlformats.org/drawingml/2006/main">
            <a:off x="5619750" y="1959769"/>
            <a:ext cx="6172200" cy="3471863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CA229-0B02-4831-8989-FA062087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943600"/>
            <a:ext cx="617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메인 메뉴와 전투 설정에서 다시 열 수 있는 게임 가이드</a:t>
            </a:r>
          </a:p>
        </p:txBody>
      </p:sp>
    </p:spTree>
    <p:extLst>
      <p:ext uri="{BB962C8B-B14F-4D97-AF65-F5344CB8AC3E}">
        <p14:creationId xmlns:p14="http://schemas.microsoft.com/office/powerpoint/2010/main" val="246435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2F0047-AD92-4249-879A-D37BD7F5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SESSION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BCB6F-76A0-4DDC-9832-A0F2B122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모든 세션을 ‘대화’가 아니라 저장소 결과와 교차 감사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C510A-4B52-4016-98BC-00D68D23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4C151-5B65-4FD3-BFB0-7534805B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222B0-84B0-4E7E-BC72-EFCFA9F1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D6C66-663D-4B11-9355-27043C03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FBB5F-5B64-46D9-827C-42E6F6CF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7/24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CF1CF-29A1-4F2A-A840-F04D3F21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실행 가능한</a:t>
            </a:r>
          </a:p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전투 루프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7115D-9469-413C-97E0-61463CE2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81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97570-1478-47C1-AE67-97D58998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8/02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51BD2-44C0-4203-93EC-A677015E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결정론적</a:t>
            </a:r>
          </a:p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Balance 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3C7F7-42F6-45C4-9C82-EB698830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1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0D600-062C-49F8-B3BA-45DF3D3C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8/05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EB5F7-0D43-49D4-A884-494FF26A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58장 카드 아트</a:t>
            </a:r>
          </a:p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픽셀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35F27-EF67-4F88-ABB1-BF8FE693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81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722C2-1F34-42CA-AD40-A7605E13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8/09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1DD95-9E5D-423C-8AFC-B16F812F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3-stage 밸런스</a:t>
            </a:r>
          </a:p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상태 기반 BGM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D3DDA-A12A-41C6-B985-6341474E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81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DC807-653D-4FE3-AE81-FF455778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479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8/10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37676-88A8-4EF7-9653-52BF2141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147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튜토리얼·가이드</a:t>
            </a:r>
          </a:p>
          <a:p xmlns:a="http://schemas.openxmlformats.org/drawingml/2006/main">
            <a:pPr algn="l">
              <a:def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UX·오디오 보정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A7A0D-5CA3-43D2-9B2D-3C5AF37F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2571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C6975F-3309-4C8F-A6ED-1F1C926C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9E27F-6CC3-4FD3-B66A-3E5ECCFE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user-origin 세션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DE93D6-84E0-4972-9294-7B0DF1BE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65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0023D-8336-42EB-A0C1-51D8514C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53000"/>
            <a:ext cx="2571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0170C5-E78E-467B-BFE1-9A86AC54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244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6AF"/>
          </a:solidFill>
          <a:ln xmlns:a="http://schemas.openxmlformats.org/drawingml/2006/main" w="0">
            <a:solidFill>
              <a:srgbClr val="6ED6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73C0D3-E655-4617-A615-08F38A17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76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직접 기술 기여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3C7C15-0273-455F-BA98-1FE3BB28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054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54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A51F68-77EA-4527-9B91-4CE4EA3B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53000"/>
            <a:ext cx="2571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3A6AC2-5926-4F44-BC91-74B2177A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244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35A"/>
          </a:solidFill>
          <a:ln xmlns:a="http://schemas.openxmlformats.org/drawingml/2006/main" w="0">
            <a:solidFill>
              <a:srgbClr val="E6B3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CB87C8-26B1-49CA-B2AB-94A88FEB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76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운영 전용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3FDDEA-C745-4766-8E3D-1FE8DC01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054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9B1454-74C4-4C15-B329-2C22AFB3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0"/>
            <a:ext cx="2571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CE99E8-A42D-4F1A-BE76-B000CA0E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244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6B61"/>
          </a:solidFill>
          <a:ln xmlns:a="http://schemas.openxmlformats.org/drawingml/2006/main" w="0">
            <a:solidFill>
              <a:srgbClr val="DD6B6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B38846-926B-484B-9F91-52DE7E02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76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문서 범위 제외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95B007-7314-4D23-80E3-7BDD5560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5054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13870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6BE56F-3018-4474-BDEE-CE7317EA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853BC-8A39-4578-916A-0E3FBF6E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완료는 ‘작동한다’가 아니라 다섯 겹의 증거로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DA875-F539-461E-A8AB-7D07375E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9B7E4-EFD9-477F-AAC2-DF5219D4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AC6EC-3DF8-49F3-9C66-17DC16E2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0955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DC49F-1410-4653-8E14-60E2E08D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0981E-03F2-49C2-821B-9684D0E7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147/147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DD066-837F-4D72-965C-07E13D92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Unity EditMode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AF39F-07CD-4AB6-AA57-88D4FEA6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19250"/>
            <a:ext cx="20955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C3AA4-7DED-444F-B8EC-3160DC47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907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6AF"/>
          </a:solidFill>
          <a:ln xmlns:a="http://schemas.openxmlformats.org/drawingml/2006/main" w="0">
            <a:solidFill>
              <a:srgbClr val="6ED6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C209C-78A8-4710-99FE-841B3C6B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193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98/98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45D27-C0CF-4FD7-956B-4F0EADD3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Unity PlayMode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8CF4B-B67B-48A4-AD64-EE31D38E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20955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42A53-F410-4001-873C-45923FEA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907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35A"/>
          </a:solidFill>
          <a:ln xmlns:a="http://schemas.openxmlformats.org/drawingml/2006/main" w="0">
            <a:solidFill>
              <a:srgbClr val="E6B3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F5969-A4F3-417E-ACA5-1FA9F050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193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29/29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0B3F0-592D-4032-8673-4CD59AB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Balance CLI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71BCA-B9B7-4F71-B7D1-CFB49B41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19250"/>
            <a:ext cx="20955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C1F36-33A6-4E8F-A984-99A900AA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907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AEA15-5FFB-415C-BBB0-3D326312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193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4 scenes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E3D46-DD40-40EA-BB52-EA60807A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Full WebGL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8F2A5-03E9-41E5-BCDF-6CFE74C6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19250"/>
            <a:ext cx="20955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F6F82-5266-4212-AEAA-BB6F596B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7907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6B61"/>
          </a:solidFill>
          <a:ln xmlns:a="http://schemas.openxmlformats.org/drawingml/2006/main" w="0">
            <a:solidFill>
              <a:srgbClr val="DD6B6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A2964-98D4-4D9F-A64A-546ACD36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193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F3D5C5-0007-40FA-AD75-1626CC69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browser warn/error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BBAEE-754D-495D-B239-5D2D6F47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A0AF9-F80C-4DC7-934B-DF26FD15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5EFDBF-0EA9-4406-871B-8CBE20DB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코드·데이터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B30A56-48F8-4B02-9A34-8505421B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컴파일·validator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248F3-080F-44C7-86D3-EFF3011A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244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1F7250-1A9A-4074-BEB7-A9A279F6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5CFAE5-A8BB-410A-9BF5-BC687AFA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FC2FF1-4A02-46C7-AA0D-B521A0FB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14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1D213E-393A-45E9-B8A4-AA606E01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결정론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1105EF-EC95-4538-A9DA-B6DAC91A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96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고정 seed·replay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B2D82F-5179-4250-9287-762D820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244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4D0737-80B4-4773-98A7-CC759CAE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672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531207-B6FE-40A9-AB5E-DB7337B9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00500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DA664-867C-4971-997E-F1335C76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14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52DD4F-733B-4168-BE74-5B7F8D16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005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Unity UI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75BC9A-CB29-4D85-ADA9-E22BB4B2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196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drag·hover·tutorial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FD8929-E940-4C50-97E2-DF2861F1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244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B726CD-81CF-4219-968B-2F2C3A7D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672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56BF76-DB12-43FA-BD5F-0DDE56A8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00500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3C3E85-2D05-408B-B1E8-1D51D37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14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4AD5A3-CE4E-45A7-A06E-BCA53E72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005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배포 빌드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B25243-5395-44D9-B99D-7806B480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196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IL2CPP·4씬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1D4F1E-0F4F-42B4-9391-917C50AB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244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754D46-3C79-4133-8275-AC17A186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672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22BA22-C554-4638-9F8E-DABE5780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0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24A5C2-EFEC-48CD-94D2-1B16C138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14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840604-FB42-4AA5-8884-5E01EE7F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실제 브라우저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F7794F-C6C6-4F95-8421-B6863CAF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196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입력·화면·console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15347F-3A8F-496E-8A8C-FFBA0EDC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※ 최종 PDF에는 제출 직전 clean build의 수치와 commit hash를 다시 고정</a:t>
            </a:r>
          </a:p>
        </p:txBody>
      </p:sp>
    </p:spTree>
    <p:extLst>
      <p:ext uri="{BB962C8B-B14F-4D97-AF65-F5344CB8AC3E}">
        <p14:creationId xmlns:p14="http://schemas.microsoft.com/office/powerpoint/2010/main" val="9115540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34BE6-405F-417D-B2FB-74C22369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NAN 2026 · RULEFORGE TD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D0EE6-7E4B-4341-A7E7-714DB5C9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57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AI가 만든 게임이 아니라,</a:t>
            </a:r>
          </a:p>
          <a:p xmlns:a="http://schemas.openxmlformats.org/drawingml/2006/main">
            <a:pPr algn="l">
              <a:defRPr sz="37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AI를 검증 가능한 개발 시스템으로</a:t>
            </a:r>
          </a:p>
          <a:p xmlns:a="http://schemas.openxmlformats.org/drawingml/2006/main">
            <a:pPr algn="l">
              <a:defRPr sz="37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사용해 만든 게임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791EF-0721-48B7-9E8A-6E75C758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71600"/>
            <a:ext cx="379095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19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0D915-101A-4A61-BF05-8BCD7A66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사람이 끝까지 맡은 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7DADC-23E7-409C-9DD4-693F2041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95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• 게임의 재미와 방향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• 최종 밸런스 승인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• UI/사운드 체감 판단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• 에셋·라이선스 검토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• 공개와 제출 결정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CDEA9-4BB9-4B58-B48B-1B15822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제출 전 남은 항목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065D7-53F6-4F2B-B559-F4E8CE2E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01214"/>
                </a:solidFill>
                <a:latin typeface="Apple SD Gothic Neo"/>
                <a:ea typeface="Apple SD Gothic Neo"/>
                <a:cs typeface="Apple SD Gothic Neo"/>
              </a:rPr>
              <a:t>GitHub Pages URL · YouTube 30–60초 플레이 영상 · 팀 정보 · 최종 라이선스 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8AB17-12CC-48C7-9238-E3353CC9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8616C"/>
                </a:solidFill>
                <a:latin typeface="Apple SD Gothic Neo"/>
                <a:ea typeface="Apple SD Gothic Neo"/>
                <a:cs typeface="Apple SD Gothic Neo"/>
              </a:rPr>
              <a:t>전체 상세 근거는 NAN AI 활용 기술 문서 초안과 저장소에 연결</a:t>
            </a:r>
          </a:p>
        </p:txBody>
      </p:sp>
    </p:spTree>
    <p:extLst>
      <p:ext uri="{BB962C8B-B14F-4D97-AF65-F5344CB8AC3E}">
        <p14:creationId xmlns:p14="http://schemas.microsoft.com/office/powerpoint/2010/main" val="1898817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2026-08-10T07:15:18.8740000Z</dcterms:created>
  <dcterms:modified xsi:type="dcterms:W3CDTF">2026-08-10T07:15:18.8740000Z</dcterms:modified>
</coreProperties>
</file>